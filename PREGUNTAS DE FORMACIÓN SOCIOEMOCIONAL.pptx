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gradFill flip="none" rotWithShape="1">
          <a:gsLst>
            <a:gs pos="0">
              <a:srgbClr val="B1DDFF"/>
            </a:gs>
            <a:gs pos="100000">
              <a:srgbClr val="B1DDFF">
                <a:lumMod val="64000"/>
                <a:lumOff val="36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16A93357-7CFB-4E9D-8DF6-E8245E728E51}" type="datetimeFigureOut">
              <a:rPr lang="es-MX" smtClean="0"/>
              <a:t>12/12/2024</a:t>
            </a:fld>
            <a:endParaRPr lang="es-MX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endParaRPr lang="es-MX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7D09933-1CB0-422E-B943-14E203CC287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12295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93357-7CFB-4E9D-8DF6-E8245E728E51}" type="datetimeFigureOut">
              <a:rPr lang="es-MX" smtClean="0"/>
              <a:t>12/12/2024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09933-1CB0-422E-B943-14E203CC287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0325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gradFill flip="none" rotWithShape="1">
          <a:gsLst>
            <a:gs pos="0">
              <a:schemeClr val="bg2">
                <a:tint val="80000"/>
                <a:shade val="100000"/>
                <a:satMod val="300000"/>
              </a:schemeClr>
            </a:gs>
            <a:gs pos="100000">
              <a:srgbClr val="B1DDFF">
                <a:lumMod val="64000"/>
                <a:lumOff val="36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bg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6A93357-7CFB-4E9D-8DF6-E8245E728E51}" type="datetimeFigureOut">
              <a:rPr lang="es-MX" smtClean="0"/>
              <a:t>12/12/2024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7D09933-1CB0-422E-B943-14E203CC287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731312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93357-7CFB-4E9D-8DF6-E8245E728E51}" type="datetimeFigureOut">
              <a:rPr lang="es-MX" smtClean="0"/>
              <a:t>12/12/2024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09933-1CB0-422E-B943-14E203CC287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445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93357-7CFB-4E9D-8DF6-E8245E728E51}" type="datetimeFigureOut">
              <a:rPr lang="es-MX" smtClean="0"/>
              <a:t>12/12/2024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09933-1CB0-422E-B943-14E203CC287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1741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93357-7CFB-4E9D-8DF6-E8245E728E51}" type="datetimeFigureOut">
              <a:rPr lang="es-MX" smtClean="0"/>
              <a:t>12/12/2024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09933-1CB0-422E-B943-14E203CC287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89523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93357-7CFB-4E9D-8DF6-E8245E728E51}" type="datetimeFigureOut">
              <a:rPr lang="es-MX" smtClean="0"/>
              <a:t>12/12/2024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09933-1CB0-422E-B943-14E203CC287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42597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93357-7CFB-4E9D-8DF6-E8245E728E51}" type="datetimeFigureOut">
              <a:rPr lang="es-MX" smtClean="0"/>
              <a:t>12/12/2024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7D09933-1CB0-422E-B943-14E203CC287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381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rgbClr val="969696"/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ffectLst>
                  <a:outerShdw blurRad="12700" dist="381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16A93357-7CFB-4E9D-8DF6-E8245E728E51}" type="datetimeFigureOut">
              <a:rPr lang="es-MX" smtClean="0"/>
              <a:t>12/12/2024</a:t>
            </a:fld>
            <a:endParaRPr lang="es-MX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lang="en-US" sz="1000" kern="1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12700" dist="381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s-MX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7D09933-1CB0-422E-B943-14E203CC287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28187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93357-7CFB-4E9D-8DF6-E8245E728E51}" type="datetimeFigureOut">
              <a:rPr lang="es-MX" smtClean="0"/>
              <a:t>12/12/2024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09933-1CB0-422E-B943-14E203CC287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89538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93357-7CFB-4E9D-8DF6-E8245E728E51}" type="datetimeFigureOut">
              <a:rPr lang="es-MX" smtClean="0"/>
              <a:t>12/12/2024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09933-1CB0-422E-B943-14E203CC287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899194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93357-7CFB-4E9D-8DF6-E8245E728E51}" type="datetimeFigureOut">
              <a:rPr lang="es-MX" smtClean="0"/>
              <a:t>12/12/2024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09933-1CB0-422E-B943-14E203CC287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585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6A93357-7CFB-4E9D-8DF6-E8245E728E51}" type="datetimeFigureOut">
              <a:rPr lang="es-MX" smtClean="0"/>
              <a:t>12/12/2024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14667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7D09933-1CB0-422E-B943-14E203CC2875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20853160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C4DFD0-133A-B444-8825-C2CAD3A50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0162" y="1662114"/>
            <a:ext cx="8383587" cy="2409823"/>
          </a:xfrm>
        </p:spPr>
        <p:txBody>
          <a:bodyPr>
            <a:normAutofit/>
          </a:bodyPr>
          <a:lstStyle/>
          <a:p>
            <a:r>
              <a:rPr lang="es-MX" sz="5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PREGUNTAS DE FORMACIÓN SOCIOEMOCIONAL.</a:t>
            </a:r>
            <a:endParaRPr lang="es-MX" sz="5400" dirty="0"/>
          </a:p>
        </p:txBody>
      </p:sp>
      <p:pic>
        <p:nvPicPr>
          <p:cNvPr id="1026" name="Picture 2" descr="Importancia de la educación socioemocional | educarchile">
            <a:extLst>
              <a:ext uri="{FF2B5EF4-FFF2-40B4-BE49-F238E27FC236}">
                <a16:creationId xmlns:a16="http://schemas.microsoft.com/office/drawing/2014/main" id="{48C8674F-2DC5-9398-E0EA-E6CF392D1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667" b="97167" l="2167" r="99667">
                        <a14:foregroundMark x1="52500" y1="2500" x2="56667" y2="14500"/>
                        <a14:foregroundMark x1="2167" y1="30667" x2="22333" y2="44333"/>
                        <a14:foregroundMark x1="16667" y1="48333" x2="10167" y2="39167"/>
                        <a14:foregroundMark x1="10167" y1="39167" x2="10167" y2="39167"/>
                        <a14:foregroundMark x1="10167" y1="39167" x2="10167" y2="50000"/>
                        <a14:foregroundMark x1="7833" y1="89500" x2="14167" y2="97167"/>
                        <a14:foregroundMark x1="5333" y1="75333" x2="2500" y2="82333"/>
                        <a14:foregroundMark x1="19500" y1="90667" x2="21833" y2="93500"/>
                        <a14:foregroundMark x1="98167" y1="72500" x2="89833" y2="85333"/>
                        <a14:foregroundMark x1="89833" y1="85333" x2="89167" y2="87500"/>
                        <a14:foregroundMark x1="78000" y1="89500" x2="83667" y2="85833"/>
                        <a14:foregroundMark x1="87167" y1="93167" x2="87167" y2="88333"/>
                        <a14:foregroundMark x1="90000" y1="69000" x2="92833" y2="75833"/>
                        <a14:foregroundMark x1="99667" y1="30167" x2="89167" y2="34333"/>
                        <a14:foregroundMark x1="49000" y1="1667" x2="54500" y2="11667"/>
                        <a14:foregroundMark x1="6167" y1="26167" x2="5833" y2="33833"/>
                        <a14:foregroundMark x1="2500" y1="26167" x2="12167" y2="34667"/>
                        <a14:foregroundMark x1="12167" y1="38667" x2="13500" y2="48000"/>
                        <a14:foregroundMark x1="8167" y1="27000" x2="11833" y2="33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8700" y="3314700"/>
            <a:ext cx="3543300" cy="3543300"/>
          </a:xfrm>
          <a:prstGeom prst="rect">
            <a:avLst/>
          </a:prstGeom>
          <a:noFill/>
          <a:effectLst>
            <a:glow rad="139700">
              <a:schemeClr val="accent3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5779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4FCE73-AFB3-6AFD-1880-988C758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39" y="642594"/>
            <a:ext cx="10787686" cy="1652930"/>
          </a:xfrm>
        </p:spPr>
        <p:txBody>
          <a:bodyPr>
            <a:normAutofit/>
          </a:bodyPr>
          <a:lstStyle/>
          <a:p>
            <a:pPr algn="just"/>
            <a:r>
              <a:rPr lang="es-MX" sz="2800" b="1" kern="100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1.- Es la acción y el compromiso de las personas en conjunto para aportar un granito de arena y generar un cambio en el entorno social.</a:t>
            </a:r>
            <a:br>
              <a:rPr lang="es-MX" sz="2800" b="1" kern="100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s-MX" sz="2800" b="1" dirty="0">
              <a:latin typeface="Bodoni MT" panose="02070603080606020203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7BF328-6FF4-9BEF-C2C8-7A9D30A1821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4869" y="2448055"/>
            <a:ext cx="10363826" cy="3424107"/>
          </a:xfrm>
        </p:spPr>
        <p:txBody>
          <a:bodyPr/>
          <a:lstStyle/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esponsabilidad </a:t>
            </a: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ocial </a:t>
            </a: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ública.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endParaRPr lang="es-MX" sz="2400" kern="100" cap="none" dirty="0">
              <a:effectLst/>
              <a:latin typeface="Bodoni MT" panose="020706030806060202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esponsabilidad </a:t>
            </a: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ocial </a:t>
            </a: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ndividual.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endParaRPr lang="es-MX" sz="2400" kern="100" cap="none" dirty="0">
              <a:effectLst/>
              <a:latin typeface="Bodoni MT" panose="020706030806060202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LcParenR"/>
            </a:pP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esponsabilidad </a:t>
            </a: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ocial </a:t>
            </a: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mpresarial</a:t>
            </a:r>
            <a:r>
              <a:rPr lang="es-MX" sz="2400" kern="100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s-MX" sz="1800" kern="100" dirty="0">
              <a:effectLst/>
              <a:latin typeface="Bodoni MT" panose="020706030806060202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2052" name="Picture 4" descr="Responsabilidad Social Individual y Capital Social | Soleá">
            <a:extLst>
              <a:ext uri="{FF2B5EF4-FFF2-40B4-BE49-F238E27FC236}">
                <a16:creationId xmlns:a16="http://schemas.microsoft.com/office/drawing/2014/main" id="{EE2F8357-9CBD-128D-7A4E-8B789EB50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768" b="97924" l="10000" r="93333">
                        <a14:foregroundMark x1="27222" y1="55363" x2="27222" y2="42907"/>
                        <a14:foregroundMark x1="28333" y1="54671" x2="28056" y2="41176"/>
                        <a14:foregroundMark x1="45833" y1="7612" x2="45833" y2="15225"/>
                        <a14:foregroundMark x1="31667" y1="11073" x2="30556" y2="16955"/>
                        <a14:foregroundMark x1="29722" y1="13149" x2="29722" y2="10727"/>
                        <a14:foregroundMark x1="28889" y1="14879" x2="26389" y2="13149"/>
                        <a14:foregroundMark x1="45556" y1="76471" x2="45000" y2="96194"/>
                        <a14:foregroundMark x1="45000" y1="96194" x2="45000" y2="96194"/>
                        <a14:foregroundMark x1="50556" y1="41176" x2="52500" y2="35986"/>
                        <a14:foregroundMark x1="45556" y1="3460" x2="45556" y2="7958"/>
                        <a14:foregroundMark x1="54722" y1="46367" x2="48889" y2="97924"/>
                        <a14:foregroundMark x1="48889" y1="97924" x2="48889" y2="97924"/>
                        <a14:foregroundMark x1="93333" y1="44983" x2="90556" y2="4705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1775" y="2295524"/>
            <a:ext cx="4455328" cy="3576638"/>
          </a:xfrm>
          <a:prstGeom prst="rect">
            <a:avLst/>
          </a:prstGeom>
          <a:noFill/>
          <a:effectLst>
            <a:glow rad="139700">
              <a:schemeClr val="accent6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4171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1AF460-CD16-066A-D94F-DE19C1ECF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363" y="642594"/>
            <a:ext cx="10915650" cy="1371600"/>
          </a:xfrm>
        </p:spPr>
        <p:txBody>
          <a:bodyPr>
            <a:normAutofit fontScale="90000"/>
          </a:bodyPr>
          <a:lstStyle/>
          <a:p>
            <a:pPr algn="l"/>
            <a:r>
              <a:rPr lang="es-MX" sz="3200" b="1" kern="100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2.- ¿Cuál de las siguientes acciones hace referencia a la responsabilidad social individual?</a:t>
            </a:r>
            <a:br>
              <a:rPr lang="es-MX" sz="3200" b="1" kern="100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s-MX" sz="3200" b="1" dirty="0">
              <a:latin typeface="Bodoni MT" panose="02070603080606020203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AB0F2C-3C33-59EE-75F7-B775F89E7B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ialogo social.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endParaRPr lang="es-MX" sz="2400" kern="100" cap="none" dirty="0">
              <a:effectLst/>
              <a:latin typeface="Bodoni MT" panose="020706030806060202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quidad salarial.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endParaRPr lang="es-MX" sz="2400" kern="100" cap="none" dirty="0">
              <a:effectLst/>
              <a:latin typeface="Bodoni MT" panose="020706030806060202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LcParenR"/>
            </a:pP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eciclar.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3074" name="Picture 2" descr="Cómo implementar las prácticas justas de operación en la RSE? – AmCham">
            <a:extLst>
              <a:ext uri="{FF2B5EF4-FFF2-40B4-BE49-F238E27FC236}">
                <a16:creationId xmlns:a16="http://schemas.microsoft.com/office/drawing/2014/main" id="{D6EB50D2-B06D-B272-D9BD-4470B191E0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356" b="99329" l="9172" r="89941">
                        <a14:foregroundMark x1="56509" y1="4698" x2="56213" y2="10067"/>
                        <a14:foregroundMark x1="67160" y1="17450" x2="64793" y2="23490"/>
                        <a14:foregroundMark x1="72485" y1="40940" x2="69527" y2="41611"/>
                        <a14:foregroundMark x1="71302" y1="70470" x2="67751" y2="67785"/>
                        <a14:foregroundMark x1="64793" y1="92617" x2="62722" y2="87919"/>
                        <a14:foregroundMark x1="50296" y1="94631" x2="50000" y2="99329"/>
                        <a14:foregroundMark x1="39645" y1="88591" x2="38166" y2="93289"/>
                        <a14:foregroundMark x1="32840" y1="71141" x2="29586" y2="71141"/>
                        <a14:foregroundMark x1="31953" y1="44295" x2="28994" y2="44966"/>
                        <a14:foregroundMark x1="34024" y1="18792" x2="35503" y2="24161"/>
                        <a14:foregroundMark x1="45562" y1="3356" x2="44970" y2="10067"/>
                        <a14:foregroundMark x1="72485" y1="42282" x2="69527" y2="436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237" r="18661"/>
          <a:stretch/>
        </p:blipFill>
        <p:spPr bwMode="auto">
          <a:xfrm>
            <a:off x="5957441" y="2367092"/>
            <a:ext cx="4118865" cy="3072156"/>
          </a:xfrm>
          <a:prstGeom prst="rect">
            <a:avLst/>
          </a:prstGeom>
          <a:noFill/>
          <a:effectLst>
            <a:glow rad="63500">
              <a:schemeClr val="accent4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1101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7489AB-144E-4F29-E17F-9773CC25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4812" y="902494"/>
            <a:ext cx="7086600" cy="1371600"/>
          </a:xfrm>
        </p:spPr>
        <p:txBody>
          <a:bodyPr>
            <a:noAutofit/>
          </a:bodyPr>
          <a:lstStyle/>
          <a:p>
            <a:pPr algn="just"/>
            <a:r>
              <a:rPr lang="es-MX" sz="2800" b="1" kern="100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3.- LA INCLUSIÓN consiste en crear un entorno en el que todas las personas puedan sentirse cómodas participando y triunfando.</a:t>
            </a:r>
            <a:br>
              <a:rPr lang="es-MX" sz="2800" b="1" kern="100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s-MX" sz="2800" b="1" dirty="0">
              <a:latin typeface="Bodoni MT" panose="02070603080606020203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E9F62F-AD6B-CF95-FCDC-787A03901F2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43425" y="2757619"/>
            <a:ext cx="2505074" cy="3424107"/>
          </a:xfrm>
        </p:spPr>
        <p:txBody>
          <a:bodyPr/>
          <a:lstStyle/>
          <a:p>
            <a:pPr marL="342900" lvl="0" indent="-342900" algn="ctr">
              <a:lnSpc>
                <a:spcPct val="107000"/>
              </a:lnSpc>
              <a:buFont typeface="+mj-lt"/>
              <a:buAutoNum type="alphaLcParenR"/>
            </a:pP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ierto. </a:t>
            </a:r>
          </a:p>
          <a:p>
            <a:pPr marL="342900" lvl="0" indent="-342900" algn="ctr">
              <a:lnSpc>
                <a:spcPct val="107000"/>
              </a:lnSpc>
              <a:buFont typeface="+mj-lt"/>
              <a:buAutoNum type="alphaLcParenR"/>
            </a:pPr>
            <a:endParaRPr lang="es-MX" sz="2400" kern="100" cap="none" dirty="0">
              <a:effectLst/>
              <a:latin typeface="Bodoni MT" panose="020706030806060202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ctr">
              <a:lnSpc>
                <a:spcPct val="107000"/>
              </a:lnSpc>
              <a:buFont typeface="+mj-lt"/>
              <a:buAutoNum type="alphaLcParenR"/>
            </a:pP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also.</a:t>
            </a:r>
          </a:p>
          <a:p>
            <a:pPr indent="0">
              <a:lnSpc>
                <a:spcPct val="107000"/>
              </a:lnSpc>
              <a:spcAft>
                <a:spcPts val="800"/>
              </a:spcAft>
              <a:buNone/>
            </a:pPr>
            <a:endParaRPr lang="es-MX" sz="1800" kern="100" cap="none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648ABECB-C15F-8AB6-05BF-70EC3E2128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00" b="94850" l="10000" r="90000">
                        <a14:foregroundMark x1="34031" y1="7600" x2="35031" y2="16100"/>
                        <a14:foregroundMark x1="54969" y1="16650" x2="54969" y2="22500"/>
                        <a14:foregroundMark x1="69938" y1="23000" x2="69938" y2="27300"/>
                        <a14:foregroundMark x1="68281" y1="34200" x2="79906" y2="53900"/>
                        <a14:foregroundMark x1="57281" y1="30450" x2="58281" y2="77800"/>
                        <a14:foregroundMark x1="68938" y1="54400" x2="68594" y2="68750"/>
                        <a14:foregroundMark x1="67594" y1="72500" x2="63625" y2="84200"/>
                        <a14:foregroundMark x1="72250" y1="68250" x2="75906" y2="83650"/>
                        <a14:foregroundMark x1="47656" y1="31550" x2="47656" y2="39000"/>
                        <a14:foregroundMark x1="36344" y1="19850" x2="33344" y2="53900"/>
                        <a14:foregroundMark x1="24375" y1="42700" x2="24719" y2="49600"/>
                        <a14:foregroundMark x1="24719" y1="57050" x2="25031" y2="73050"/>
                        <a14:foregroundMark x1="25719" y1="73050" x2="33688" y2="72500"/>
                        <a14:foregroundMark x1="19719" y1="65050" x2="17063" y2="68250"/>
                        <a14:foregroundMark x1="35344" y1="86300" x2="31688" y2="92200"/>
                        <a14:foregroundMark x1="23719" y1="94850" x2="28375" y2="948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306" r="17217"/>
          <a:stretch/>
        </p:blipFill>
        <p:spPr bwMode="auto">
          <a:xfrm>
            <a:off x="1100137" y="2583787"/>
            <a:ext cx="3114675" cy="2685919"/>
          </a:xfrm>
          <a:prstGeom prst="rect">
            <a:avLst/>
          </a:prstGeom>
          <a:noFill/>
          <a:effectLst>
            <a:glow rad="101600">
              <a:schemeClr val="accent4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2288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11E9A-CAE3-3D92-F5FF-492D2B932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438" y="532792"/>
            <a:ext cx="10364451" cy="1596177"/>
          </a:xfrm>
        </p:spPr>
        <p:txBody>
          <a:bodyPr>
            <a:normAutofit/>
          </a:bodyPr>
          <a:lstStyle/>
          <a:p>
            <a:pPr marL="457200" algn="l">
              <a:lnSpc>
                <a:spcPct val="107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s-MX" sz="3200" b="1" kern="100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.- ¿En qué nos puede ayudar el autoconocimiento? </a:t>
            </a:r>
            <a:br>
              <a:rPr lang="es-MX" sz="2000" b="1" kern="100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s-MX" sz="2000" b="1" dirty="0">
              <a:latin typeface="Bodoni MT" panose="02070603080606020203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A583CC-2938-6DBA-DAD6-390543D4B6F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2781429"/>
            <a:ext cx="10363826" cy="3424107"/>
          </a:xfrm>
        </p:spPr>
        <p:txBody>
          <a:bodyPr/>
          <a:lstStyle/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ayor confianza y autoaceptación 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endParaRPr lang="es-MX" sz="2400" kern="100" cap="none" dirty="0">
              <a:effectLst/>
              <a:latin typeface="Bodoni MT" panose="020706030806060202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ncrementa el deseo por usar lo aprendido solo en el beneficio propio.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endParaRPr lang="es-MX" sz="2400" kern="100" cap="none" dirty="0">
              <a:effectLst/>
              <a:latin typeface="Bodoni MT" panose="020706030806060202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rivolidad en la interacción social.</a:t>
            </a:r>
          </a:p>
          <a:p>
            <a:pPr indent="0">
              <a:lnSpc>
                <a:spcPct val="107000"/>
              </a:lnSpc>
              <a:spcAft>
                <a:spcPts val="800"/>
              </a:spcAft>
              <a:buNone/>
            </a:pPr>
            <a:endParaRPr lang="es-MX" sz="2400" kern="100" cap="none" dirty="0">
              <a:effectLst/>
              <a:latin typeface="Bodoni MT" panose="020706030806060202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1026" name="Picture 2" descr="Icono de Autoconocimiento Generic Outline Color | Freepik">
            <a:extLst>
              <a:ext uri="{FF2B5EF4-FFF2-40B4-BE49-F238E27FC236}">
                <a16:creationId xmlns:a16="http://schemas.microsoft.com/office/drawing/2014/main" id="{A249F249-27D8-78AD-323F-941CF512E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2986" y="2564123"/>
            <a:ext cx="3858718" cy="3858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831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F2293D-8D12-1C4F-6ABC-FB3FEA751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655508" cy="1371600"/>
          </a:xfrm>
        </p:spPr>
        <p:txBody>
          <a:bodyPr>
            <a:normAutofit/>
          </a:bodyPr>
          <a:lstStyle/>
          <a:p>
            <a:pPr algn="l"/>
            <a:r>
              <a:rPr lang="es-MX" sz="2800" b="1" kern="100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5.- ¿Cómo debe cambiar la sociedad para adaptarse a las necesidades de las personas? </a:t>
            </a:r>
            <a:br>
              <a:rPr lang="es-MX" sz="2000" b="1" kern="100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s-MX" sz="2000" b="1" dirty="0">
              <a:latin typeface="Bodoni MT" panose="02070603080606020203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333A54-8549-D575-2458-38864C902F9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romoviendo desigualdad y exclusión 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endParaRPr lang="es-MX" sz="2400" kern="100" cap="none" dirty="0">
              <a:effectLst/>
              <a:latin typeface="Bodoni MT" panose="020706030806060202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alorando los aspectos externos de las personas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endParaRPr lang="es-MX" sz="2400" kern="100" cap="none" dirty="0">
              <a:effectLst/>
              <a:latin typeface="Bodoni MT" panose="020706030806060202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romoviendo inclusión y tolerancia</a:t>
            </a:r>
          </a:p>
          <a:p>
            <a:pPr indent="0">
              <a:lnSpc>
                <a:spcPct val="107000"/>
              </a:lnSpc>
              <a:spcAft>
                <a:spcPts val="800"/>
              </a:spcAft>
              <a:buNone/>
            </a:pPr>
            <a:endParaRPr lang="es-MX" sz="2400" kern="100" cap="none" dirty="0">
              <a:effectLst/>
              <a:latin typeface="Bodoni MT" panose="020706030806060202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MX" dirty="0"/>
          </a:p>
        </p:txBody>
      </p:sp>
      <p:pic>
        <p:nvPicPr>
          <p:cNvPr id="6146" name="Picture 2" descr="STEC-IC - Guía práctica adaptación del puesto de trabajo docente">
            <a:extLst>
              <a:ext uri="{FF2B5EF4-FFF2-40B4-BE49-F238E27FC236}">
                <a16:creationId xmlns:a16="http://schemas.microsoft.com/office/drawing/2014/main" id="{3D08772C-2E89-3781-6AB9-F69AE56CF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488" b="89614" l="9799" r="89950">
                        <a14:foregroundMark x1="48476" y1="10949" x2="48744" y2="13527"/>
                        <a14:foregroundMark x1="84673" y1="22947" x2="84171" y2="27778"/>
                        <a14:foregroundMark x1="16583" y1="30193" x2="16583" y2="36473"/>
                        <a14:foregroundMark x1="19849" y1="29710" x2="17839" y2="36232"/>
                        <a14:foregroundMark x1="48995" y1="8454" x2="48995" y2="11594"/>
                        <a14:foregroundMark x1="46734" y1="8454" x2="47487" y2="10386"/>
                        <a14:foregroundMark x1="81407" y1="24155" x2="83417" y2="22705"/>
                        <a14:backgroundMark x1="55276" y1="56763" x2="62814" y2="99517"/>
                        <a14:backgroundMark x1="62814" y1="99517" x2="62814" y2="99517"/>
                        <a14:backgroundMark x1="73367" y1="58696" x2="64824" y2="67150"/>
                        <a14:backgroundMark x1="80151" y1="61111" x2="80151" y2="65459"/>
                        <a14:backgroundMark x1="52513" y1="50000" x2="55276" y2="55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6298" y="1243357"/>
            <a:ext cx="3461302" cy="3600450"/>
          </a:xfrm>
          <a:prstGeom prst="rect">
            <a:avLst/>
          </a:prstGeom>
          <a:noFill/>
          <a:effectLst>
            <a:glow rad="101600">
              <a:schemeClr val="accent5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4115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7AEC4D-4D8C-A59C-27AC-6F0D17BC0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sz="3200" b="1" kern="100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6.- Construye lazos afectivos responsables e igualitarios.</a:t>
            </a:r>
            <a:br>
              <a:rPr lang="es-MX" sz="2000" b="1" kern="100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s-MX" sz="2000" b="1" dirty="0">
              <a:latin typeface="Bodoni MT" panose="02070603080606020203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7572E4-DA35-0CA5-84FF-DF88968ED90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esponsabilidad social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endParaRPr lang="es-MX" sz="2400" kern="100" cap="none" dirty="0">
              <a:effectLst/>
              <a:latin typeface="Bodoni MT" panose="020706030806060202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uidado físico y corporal 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endParaRPr lang="es-MX" sz="2400" kern="100" cap="none" dirty="0">
              <a:effectLst/>
              <a:latin typeface="Bodoni MT" panose="020706030806060202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LcParenR"/>
            </a:pP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ienestar emocional afectivo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7170" name="Picture 2" descr="Bienestar Socioafectivo">
            <a:extLst>
              <a:ext uri="{FF2B5EF4-FFF2-40B4-BE49-F238E27FC236}">
                <a16:creationId xmlns:a16="http://schemas.microsoft.com/office/drawing/2014/main" id="{FE17B5A4-6C10-A86C-E052-D8D21FCA2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54" b="89809" l="9938" r="94099">
                        <a14:foregroundMark x1="20497" y1="33758" x2="20807" y2="60510"/>
                        <a14:foregroundMark x1="35714" y1="28025" x2="34472" y2="52866"/>
                        <a14:foregroundMark x1="51553" y1="30573" x2="53106" y2="56688"/>
                        <a14:foregroundMark x1="68012" y1="34395" x2="68012" y2="49682"/>
                        <a14:foregroundMark x1="67081" y1="60510" x2="67081" y2="70064"/>
                        <a14:foregroundMark x1="81056" y1="30573" x2="81056" y2="49682"/>
                        <a14:foregroundMark x1="94099" y1="26115" x2="91304" y2="3057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3320" y="3943351"/>
            <a:ext cx="5723856" cy="2790824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2678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29475B-2539-3BB0-7B77-E58F5D0AB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725" y="664628"/>
            <a:ext cx="10921741" cy="1596177"/>
          </a:xfrm>
        </p:spPr>
        <p:txBody>
          <a:bodyPr>
            <a:normAutofit/>
          </a:bodyPr>
          <a:lstStyle/>
          <a:p>
            <a:r>
              <a:rPr lang="es-MX" sz="2800" b="1" kern="100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7.- Es una habilidad social que puede ayudar a construir relaciones interpersonales más saludables y equitativas.</a:t>
            </a:r>
            <a:br>
              <a:rPr lang="es-MX" sz="2000" b="1" kern="100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s-MX" sz="2000" b="1" dirty="0">
              <a:latin typeface="Bodoni MT" panose="02070603080606020203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22470B-5221-8214-9026-4C060CCF48D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711" y="2769265"/>
            <a:ext cx="10363826" cy="3424107"/>
          </a:xfrm>
        </p:spPr>
        <p:txBody>
          <a:bodyPr/>
          <a:lstStyle/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rejuicios 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endParaRPr lang="es-MX" sz="2400" kern="100" cap="none" dirty="0">
              <a:effectLst/>
              <a:latin typeface="Bodoni MT" panose="020706030806060202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mpatía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endParaRPr lang="es-MX" sz="2400" kern="100" cap="none" dirty="0">
              <a:effectLst/>
              <a:latin typeface="Bodoni MT" panose="020706030806060202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LcParenR"/>
            </a:pP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comunicación no verbal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8194" name="Picture 2" descr="Empatía - Qué es, valor, tipos y ejemplos">
            <a:extLst>
              <a:ext uri="{FF2B5EF4-FFF2-40B4-BE49-F238E27FC236}">
                <a16:creationId xmlns:a16="http://schemas.microsoft.com/office/drawing/2014/main" id="{93300151-60BA-8A78-9A5D-B6CAD909D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403" b="93711" l="4403" r="92138">
                        <a14:foregroundMark x1="20755" y1="5660" x2="19182" y2="93711"/>
                        <a14:foregroundMark x1="11321" y1="15723" x2="4403" y2="42138"/>
                        <a14:foregroundMark x1="87736" y1="15723" x2="92138" y2="465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162" y="2412077"/>
            <a:ext cx="5276850" cy="2638426"/>
          </a:xfrm>
          <a:prstGeom prst="rect">
            <a:avLst/>
          </a:prstGeom>
          <a:noFill/>
          <a:effectLst>
            <a:glow rad="228600">
              <a:schemeClr val="accent4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7061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F88D5E-482F-B873-C7D1-03EB2998A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532793"/>
            <a:ext cx="10364451" cy="1596177"/>
          </a:xfrm>
        </p:spPr>
        <p:txBody>
          <a:bodyPr>
            <a:normAutofit/>
          </a:bodyPr>
          <a:lstStyle/>
          <a:p>
            <a:pPr algn="just"/>
            <a:r>
              <a:rPr lang="es-MX" sz="2800" b="1" kern="100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8.- La importancia del autocuidado no tiene relación alguna con los términos de autocuidado físico, social y emocional.</a:t>
            </a:r>
            <a:br>
              <a:rPr lang="es-MX" sz="2800" b="1" kern="100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s-MX" sz="2800" b="1" dirty="0">
              <a:latin typeface="Bodoni MT" panose="02070603080606020203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01EAC8-134C-A282-EFA5-4D3D72B4CAD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Cierto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endParaRPr lang="es-MX" sz="2400" kern="100" cap="none" dirty="0">
              <a:effectLst/>
              <a:latin typeface="Bodoni MT" panose="020706030806060202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LcParenR"/>
            </a:pP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also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9218" name="Picture 2" descr="5 Prácticas de Autocuidado para Cada Área de tu Vida">
            <a:extLst>
              <a:ext uri="{FF2B5EF4-FFF2-40B4-BE49-F238E27FC236}">
                <a16:creationId xmlns:a16="http://schemas.microsoft.com/office/drawing/2014/main" id="{889DAC73-01B7-4703-EC32-1124382AAB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13" b="99543" l="10000" r="97700">
                        <a14:foregroundMark x1="87300" y1="8219" x2="79600" y2="22222"/>
                        <a14:foregroundMark x1="79600" y1="22222" x2="79600" y2="22527"/>
                        <a14:foregroundMark x1="72400" y1="56317" x2="83400" y2="56469"/>
                        <a14:foregroundMark x1="83400" y1="56469" x2="89700" y2="60578"/>
                        <a14:foregroundMark x1="89700" y1="60578" x2="93600" y2="74125"/>
                        <a14:foregroundMark x1="93600" y1="74125" x2="93400" y2="98782"/>
                        <a14:foregroundMark x1="96000" y1="57078" x2="97700" y2="66667"/>
                        <a14:foregroundMark x1="97700" y1="66667" x2="97600" y2="78995"/>
                        <a14:foregroundMark x1="58800" y1="46119" x2="63000" y2="45358"/>
                        <a14:foregroundMark x1="56400" y1="34855" x2="56200" y2="33486"/>
                        <a14:foregroundMark x1="58600" y1="33790" x2="58800" y2="37595"/>
                        <a14:foregroundMark x1="52500" y1="35312" x2="54000" y2="35312"/>
                        <a14:foregroundMark x1="59800" y1="36225" x2="59800" y2="36225"/>
                        <a14:foregroundMark x1="59800" y1="36225" x2="60400" y2="36682"/>
                        <a14:foregroundMark x1="52500" y1="26180" x2="52500" y2="26180"/>
                        <a14:foregroundMark x1="62100" y1="9589" x2="62100" y2="9589"/>
                        <a14:foregroundMark x1="71100" y1="3349" x2="71100" y2="3349"/>
                        <a14:foregroundMark x1="77500" y1="5479" x2="77500" y2="5479"/>
                        <a14:foregroundMark x1="90900" y1="25266" x2="90900" y2="25266"/>
                        <a14:foregroundMark x1="97500" y1="40335" x2="97500" y2="40335"/>
                        <a14:foregroundMark x1="96700" y1="9741" x2="96700" y2="9741"/>
                        <a14:foregroundMark x1="93600" y1="17352" x2="93600" y2="17352"/>
                        <a14:foregroundMark x1="89800" y1="8676" x2="89800" y2="8676"/>
                        <a14:foregroundMark x1="89500" y1="2283" x2="89500" y2="2283"/>
                        <a14:foregroundMark x1="85000" y1="1065" x2="85000" y2="1065"/>
                        <a14:foregroundMark x1="75400" y1="11872" x2="75400" y2="11872"/>
                        <a14:foregroundMark x1="68200" y1="35312" x2="68200" y2="35312"/>
                        <a14:foregroundMark x1="65200" y1="41705" x2="65200" y2="41705"/>
                        <a14:foregroundMark x1="55800" y1="43075" x2="55800" y2="43075"/>
                        <a14:foregroundMark x1="54700" y1="48097" x2="54700" y2="48097"/>
                        <a14:foregroundMark x1="57400" y1="52055" x2="57400" y2="52055"/>
                        <a14:foregroundMark x1="77700" y1="47184" x2="77700" y2="47184"/>
                        <a14:foregroundMark x1="84300" y1="47032" x2="84300" y2="47032"/>
                        <a14:foregroundMark x1="92700" y1="33486" x2="92700" y2="33486"/>
                        <a14:foregroundMark x1="86100" y1="28463" x2="86100" y2="28463"/>
                        <a14:foregroundMark x1="57400" y1="16591" x2="57400" y2="16591"/>
                        <a14:foregroundMark x1="65700" y1="15221" x2="65700" y2="15221"/>
                        <a14:foregroundMark x1="75700" y1="55860" x2="75700" y2="55860"/>
                        <a14:foregroundMark x1="75700" y1="55860" x2="76300" y2="88584"/>
                        <a14:foregroundMark x1="58500" y1="85084" x2="95800" y2="68189"/>
                        <a14:foregroundMark x1="75400" y1="66362" x2="75400" y2="66362"/>
                        <a14:foregroundMark x1="81000" y1="64079" x2="81000" y2="64079"/>
                        <a14:foregroundMark x1="82000" y1="61187" x2="73200" y2="93151"/>
                        <a14:foregroundMark x1="75400" y1="58904" x2="65400" y2="79604"/>
                        <a14:foregroundMark x1="69000" y1="60731" x2="66000" y2="74429"/>
                        <a14:foregroundMark x1="67900" y1="56621" x2="63900" y2="75799"/>
                        <a14:foregroundMark x1="63900" y1="75799" x2="59800" y2="84018"/>
                        <a14:foregroundMark x1="59800" y1="84018" x2="55900" y2="83257"/>
                        <a14:foregroundMark x1="57100" y1="86758" x2="64900" y2="86454"/>
                        <a14:foregroundMark x1="64900" y1="86454" x2="72300" y2="88128"/>
                        <a14:foregroundMark x1="72300" y1="88128" x2="73900" y2="89193"/>
                        <a14:foregroundMark x1="71400" y1="89498" x2="67800" y2="995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8700"/>
          <a:stretch/>
        </p:blipFill>
        <p:spPr bwMode="auto">
          <a:xfrm>
            <a:off x="5924237" y="1869409"/>
            <a:ext cx="3272324" cy="4190871"/>
          </a:xfrm>
          <a:prstGeom prst="rect">
            <a:avLst/>
          </a:prstGeom>
          <a:noFill/>
          <a:effectLst>
            <a:glow rad="101600">
              <a:srgbClr val="FFC000">
                <a:alpha val="6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9434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A87F20-4CC9-CC4C-8F05-D1E76A6E3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MX" sz="2800" kern="100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9.- ¿Qué componentes se activan al sentir una emoción?</a:t>
            </a:r>
            <a:br>
              <a:rPr lang="es-MX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66BC77-0D6B-7EEC-F3E4-D67DC4E92AA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ensamientos, sensaciones e impulsos 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endParaRPr lang="es-MX" sz="2400" kern="100" cap="none" dirty="0">
              <a:effectLst/>
              <a:latin typeface="Bodoni MT" panose="020706030806060202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istanciamientos y apatía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endParaRPr lang="es-MX" sz="2400" kern="100" cap="none" dirty="0">
              <a:effectLst/>
              <a:latin typeface="Bodoni MT" panose="020706030806060202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LcParenR"/>
            </a:pP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ronía y distanciamiento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10242" name="Picture 2" descr="Sentimientos, emociones y pensamientos ¿Por dónde le entramos?">
            <a:extLst>
              <a:ext uri="{FF2B5EF4-FFF2-40B4-BE49-F238E27FC236}">
                <a16:creationId xmlns:a16="http://schemas.microsoft.com/office/drawing/2014/main" id="{3AAFE960-6BF4-0921-1A94-ADB665D21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5" y="2938463"/>
            <a:ext cx="4467225" cy="300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0469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B3B499-7D37-CB0E-E312-91A2EEAFDB2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487" y="788259"/>
            <a:ext cx="11111772" cy="3424107"/>
          </a:xfrm>
        </p:spPr>
        <p:txBody>
          <a:bodyPr/>
          <a:lstStyle/>
          <a:p>
            <a:pPr marL="0" indent="0">
              <a:buNone/>
            </a:pPr>
            <a:r>
              <a:rPr lang="es-MX" sz="3200" kern="100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10.- Muestra 5 expresiones de diferentes emociones en tu rostro.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2050" name="Picture 2" descr="Expresiones Faciales Divertidas PNG ,dibujos Reacciones De Facebook,  Expresiones, Antecedentes PNG y Vector para Descargar Gratis | Pngtree">
            <a:extLst>
              <a:ext uri="{FF2B5EF4-FFF2-40B4-BE49-F238E27FC236}">
                <a16:creationId xmlns:a16="http://schemas.microsoft.com/office/drawing/2014/main" id="{BE706B19-1158-597D-2104-1FE29177F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2681" y="2497866"/>
            <a:ext cx="442912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2399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0B15D-993A-644D-1B15-839CAEABC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sz="2800" kern="100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11.- Interacciones sociales y emocionales que se establecen entre dos o más personas</a:t>
            </a:r>
            <a:r>
              <a:rPr lang="es-MX" sz="2800" kern="100" dirty="0">
                <a:solidFill>
                  <a:srgbClr val="001D35"/>
                </a:solidFill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br>
              <a:rPr lang="es-MX" sz="2800" kern="100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s-MX" sz="2800" dirty="0">
              <a:latin typeface="Bodoni MT" panose="02070603080606020203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6F1FE1-31CB-438C-2860-833CD73E498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elaciones afectivas 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endParaRPr lang="es-MX" sz="2400" kern="100" cap="none" dirty="0">
              <a:effectLst/>
              <a:latin typeface="Bodoni MT" panose="020706030806060202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elaciones interpersonales.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endParaRPr lang="es-MX" sz="2400" kern="100" cap="none" dirty="0">
              <a:effectLst/>
              <a:latin typeface="Bodoni MT" panose="020706030806060202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LcParenR"/>
            </a:pPr>
            <a:r>
              <a:rPr lang="es-MX" sz="2400" kern="100" cap="none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s-MX" sz="2400" kern="100" cap="none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elaciones circunstanciales.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s-MX" sz="2400" kern="100" cap="none" dirty="0">
              <a:effectLst/>
              <a:latin typeface="Bodoni MT" panose="020706030806060202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12290" name="Picture 2" descr="Inteligencia emocional y social. Parte . De la teoría a la aula">
            <a:extLst>
              <a:ext uri="{FF2B5EF4-FFF2-40B4-BE49-F238E27FC236}">
                <a16:creationId xmlns:a16="http://schemas.microsoft.com/office/drawing/2014/main" id="{37A6BA0E-09EF-9A3E-CF49-3191169D2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9753" y="1612106"/>
            <a:ext cx="5456009" cy="363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03135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913DB040-6816-4415-960D-8178C78575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225</TotalTime>
  <Words>296</Words>
  <Application>Microsoft Office PowerPoint</Application>
  <PresentationFormat>Panorámica</PresentationFormat>
  <Paragraphs>58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Bodoni MT</vt:lpstr>
      <vt:lpstr>Calibri</vt:lpstr>
      <vt:lpstr>Century Gothic</vt:lpstr>
      <vt:lpstr>Savon</vt:lpstr>
      <vt:lpstr>PREGUNTAS DE FORMACIÓN SOCIOEMOCIONAL.</vt:lpstr>
      <vt:lpstr>1.- Es la acción y el compromiso de las personas en conjunto para aportar un granito de arena y generar un cambio en el entorno social. </vt:lpstr>
      <vt:lpstr>2.- ¿Cuál de las siguientes acciones hace referencia a la responsabilidad social individual? </vt:lpstr>
      <vt:lpstr>3.- LA INCLUSIÓN consiste en crear un entorno en el que todas las personas puedan sentirse cómodas participando y triunfando. </vt:lpstr>
      <vt:lpstr>4.- ¿En qué nos puede ayudar el autoconocimiento?  </vt:lpstr>
      <vt:lpstr>5.- ¿Cómo debe cambiar la sociedad para adaptarse a las necesidades de las personas?  </vt:lpstr>
      <vt:lpstr>6.- Construye lazos afectivos responsables e igualitarios. </vt:lpstr>
      <vt:lpstr>7.- Es una habilidad social que puede ayudar a construir relaciones interpersonales más saludables y equitativas. </vt:lpstr>
      <vt:lpstr>8.- La importancia del autocuidado no tiene relación alguna con los términos de autocuidado físico, social y emocional. </vt:lpstr>
      <vt:lpstr>9.- ¿Qué componentes se activan al sentir una emoción? </vt:lpstr>
      <vt:lpstr>Presentación de PowerPoint</vt:lpstr>
      <vt:lpstr>11.- Interacciones sociales y emocionales que se establecen entre dos o más personas.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Jaime Arellano Huerta</cp:lastModifiedBy>
  <cp:revision>3</cp:revision>
  <dcterms:created xsi:type="dcterms:W3CDTF">2024-12-09T05:30:50Z</dcterms:created>
  <dcterms:modified xsi:type="dcterms:W3CDTF">2024-12-13T02:09:56Z</dcterms:modified>
</cp:coreProperties>
</file>